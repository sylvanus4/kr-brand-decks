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822960" cy="10972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spc="180">
                <a:solidFill>
                  <a:srgbClr val="FFFFFF"/>
                </a:solidFill>
                <a:latin typeface="Pretendard"/>
                <a:ea typeface="Pretendard"/>
              </a:rPr>
              <a:t>TOSS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35661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Pretendard"/>
                <a:ea typeface="Pretendard"/>
              </a:rPr>
              <a:t>금융을 쉽고
간편하게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Pretendard"/>
                <a:ea typeface="Pretendard"/>
              </a:rPr>
              <a:t>송금·결제 · 뱅킹 · 증권 · 페이먼츠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64FF"/>
                </a:solidFill>
                <a:latin typeface="Pretendard"/>
                <a:ea typeface="Pretendard"/>
              </a:rPr>
              <a:t>TOSS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279806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4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74320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사업 개요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0" y="274320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55244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4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49758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98480" y="349758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06824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4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25196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전략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42519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06120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4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50063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50063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5815583"/>
            <a:ext cx="10881360" cy="9144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6928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064FF"/>
                </a:solidFill>
                <a:latin typeface="Pretendard"/>
                <a:ea typeface="Pretendard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576072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A1A1A"/>
                </a:solidFill>
                <a:latin typeface="Pretendard"/>
                <a:ea typeface="Pretendard"/>
              </a:rPr>
              <a:t>미래 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576072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8A8A"/>
                </a:solidFill>
                <a:latin typeface="Pretendard"/>
                <a:ea typeface="Pretendard"/>
              </a:rPr>
              <a:t>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01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사업 개요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송금을 축으로 확장하는 금융 슈퍼앱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64FF"/>
                </a:solidFill>
                <a:latin typeface="Pretendard"/>
                <a:ea typeface="Pretendard"/>
              </a:rPr>
              <a:t>01 · 사업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토스가 그리는 미래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금융을 쉽고 간편하게, 토스 슈퍼앱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Why · 시장의 변화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099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금융이 앱 하나로 통합되는 슈퍼앱 경쟁이 심화되고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840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What · 사업 영역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4242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금융을 쉽고 간편하게, 토스 슈퍼앱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983480"/>
            <a:ext cx="51206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How · 실행 전략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385816"/>
            <a:ext cx="5120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간편한 UX와 데이터로 송금·뱅킹·증권·결제를 하나로 잇습니다.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24912"/>
            <a:ext cx="5257800" cy="338328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2724912"/>
            <a:ext cx="82296" cy="3383280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305409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spc="60">
                <a:solidFill>
                  <a:srgbClr val="0064FF"/>
                </a:solidFill>
                <a:latin typeface="Pretendard"/>
                <a:ea typeface="Pretendard"/>
              </a:rPr>
              <a:t>핵심 지향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511296"/>
            <a:ext cx="4526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A1A1A"/>
                </a:solidFill>
                <a:latin typeface="Pretendard"/>
                <a:ea typeface="Pretendard"/>
              </a:rPr>
              <a:t>금융을 쉽고 간편하게, 토스 슈퍼앱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8" y="4315968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송금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39128" y="4700016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결제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5084064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뱅킹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5468112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· 증권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788920"/>
            <a:ext cx="822960" cy="1097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017520"/>
            <a:ext cx="1097280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000" b="1">
                <a:solidFill>
                  <a:srgbClr val="FFFFFF"/>
                </a:solidFill>
                <a:latin typeface="Pretendard"/>
                <a:ea typeface="Pretendard"/>
              </a:rPr>
              <a:t>02</a:t>
            </a:r>
          </a:p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Pretendard"/>
                <a:ea typeface="Pretendard"/>
              </a:rPr>
              <a:t>핵심 사업 영역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송금을 축으로 확장하는 금융 슈퍼앱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64FF"/>
                </a:solidFill>
                <a:latin typeface="Pretendard"/>
                <a:ea typeface="Pretendard"/>
              </a:rPr>
              <a:t>02 · 핵심 사업 영역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핵심 사업 영역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송금을 축으로 확장하는 금융 슈퍼앱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end-2c3b9e0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670048"/>
            <a:ext cx="402336" cy="4023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송금·결제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간편 송금으로 금융의 진입장벽을 낮춥니다.</a:t>
            </a:r>
          </a:p>
        </p:txBody>
      </p:sp>
      <p:pic>
        <p:nvPicPr>
          <p:cNvPr id="10" name="Picture 9" descr="landmark-2ffd28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670048"/>
            <a:ext cx="402336" cy="4023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73368" y="3236976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토스뱅크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3657600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인터넷은행으로 쉬운 여·수신 경험을 제공합니다.</a:t>
            </a:r>
          </a:p>
        </p:txBody>
      </p:sp>
      <p:pic>
        <p:nvPicPr>
          <p:cNvPr id="13" name="Picture 12" descr="trending-up-38f394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4421124"/>
            <a:ext cx="402336" cy="4023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토스증권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모바일 증권으로 투자를 쉽고 투명하게 만듭니다.</a:t>
            </a:r>
          </a:p>
        </p:txBody>
      </p:sp>
      <p:pic>
        <p:nvPicPr>
          <p:cNvPr id="16" name="Picture 15" descr="credit-card-5562528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4421124"/>
            <a:ext cx="402336" cy="4023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73368" y="4988052"/>
            <a:ext cx="5257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A1A1A"/>
                </a:solidFill>
                <a:latin typeface="Pretendard"/>
                <a:ea typeface="Pretendard"/>
              </a:rPr>
              <a:t>토스페이먼츠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3368" y="5408676"/>
            <a:ext cx="5257800" cy="6080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A4A"/>
                </a:solidFill>
                <a:latin typeface="Pretendard"/>
                <a:ea typeface="Pretendard"/>
              </a:rPr>
              <a:t>온라인 결제 인프라로 사업자를 지원합니다.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64F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현재에서 확대 방향으로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각 사업 영역의 현재와 확대 방향 (표기는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abl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9252" y="2468880"/>
            <a:ext cx="8299591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64FF"/>
                </a:solidFill>
                <a:latin typeface="Pretendard"/>
                <a:ea typeface="Pretendard"/>
              </a:rPr>
              <a:t>03 · 성장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전략 4대 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금융을 쉽고 간편하게, 토스 슈퍼앱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4A4A4A"/>
                </a:solidFill>
                <a:latin typeface="Pretendard"/>
                <a:ea typeface="Pretendard"/>
              </a:rPr>
              <a:t>금융을 쉽고 간편하게, 토스 슈퍼앱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65176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4FF"/>
                </a:solidFill>
                <a:latin typeface="Pretendard"/>
                <a:ea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65176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슈퍼앱 강화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3580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하나의 앱에서 모든 금융을 제공합니다.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53187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4FF"/>
                </a:solidFill>
                <a:latin typeface="Pretendard"/>
                <a:ea typeface="Pretendard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353187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뱅킹 성장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91591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토스뱅크로 여·수신 사업을 키웁니다.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441198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4FF"/>
                </a:solidFill>
                <a:latin typeface="Pretendard"/>
                <a:ea typeface="Pretendard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41198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증권·자산관리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79602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투자 경험을 쉽고 투명하게 만듭니다.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5292090"/>
            <a:ext cx="868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064FF"/>
                </a:solidFill>
                <a:latin typeface="Pretendard"/>
                <a:ea typeface="Pretendard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5292090"/>
            <a:ext cx="667511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A1A1A"/>
                </a:solidFill>
                <a:latin typeface="Pretendard"/>
                <a:ea typeface="Pretendard"/>
              </a:rPr>
              <a:t>결제 인프라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5676138"/>
            <a:ext cx="6675119" cy="4229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4A4A4A"/>
                </a:solidFill>
                <a:latin typeface="Pretendard"/>
                <a:ea typeface="Pretendard"/>
              </a:rPr>
              <a:t>토스페이먼츠로 사업자 결제를 확대합니다.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64F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로드맵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단계적 성장 전개 (일정은 브랜드 테마 예시)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5933" y="2468880"/>
            <a:ext cx="9366228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02336"/>
            <a:ext cx="8686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spc="120">
                <a:solidFill>
                  <a:srgbClr val="0064FF"/>
                </a:solidFill>
                <a:latin typeface="Pretendard"/>
                <a:ea typeface="Pretendard"/>
              </a:rPr>
              <a:t>04 · 성장 로드맵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841248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A1A1A"/>
                </a:solidFill>
                <a:latin typeface="Pretendard"/>
                <a:ea typeface="Pretendard"/>
              </a:rPr>
              <a:t>성장 지표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27632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4A4A4A"/>
                </a:solidFill>
                <a:latin typeface="Pretendard"/>
                <a:ea typeface="Pretendard"/>
              </a:rPr>
              <a:t>금융을 쉽고 간편하게, 토스 슈퍼앱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2194560"/>
            <a:ext cx="1005840" cy="4114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72768" y="2211019"/>
            <a:ext cx="10058400" cy="10972"/>
          </a:xfrm>
          <a:prstGeom prst="rect">
            <a:avLst/>
          </a:prstGeom>
          <a:solidFill>
            <a:srgbClr val="E1E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kpi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696" y="2514600"/>
            <a:ext cx="9400703" cy="3566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A8A8A"/>
                </a:solidFill>
                <a:latin typeface="Pretendard"/>
                <a:ea typeface="Pretendard"/>
              </a:rPr>
              <a:t>※ 수치는 브랜드 테마 디자인 예시입니다 (illustrative placeholder values)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651760"/>
            <a:ext cx="822960" cy="109728"/>
          </a:xfrm>
          <a:prstGeom prst="rect">
            <a:avLst/>
          </a:prstGeom>
          <a:solidFill>
            <a:srgbClr val="006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880360"/>
            <a:ext cx="1106424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Pretendard"/>
                <a:ea typeface="Pretendard"/>
              </a:rPr>
              <a:t>금융을 더 쉽게,
토스가 만듭니다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Pretendard"/>
                <a:ea typeface="Pretendard"/>
              </a:rPr>
              <a:t>Toss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Pretendard"/>
                <a:ea typeface="Pretendard"/>
              </a:rPr>
              <a:t>brand-inspired sample deck · 상표는 비바리퍼블리카 (Viva Republica, Toss)의 자산입니다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