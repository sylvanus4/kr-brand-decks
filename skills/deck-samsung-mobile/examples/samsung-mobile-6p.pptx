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822960" cy="109728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868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spc="180">
                <a:solidFill>
                  <a:srgbClr val="FFFFFF"/>
                </a:solidFill>
                <a:latin typeface="Pretendard"/>
                <a:ea typeface="Pretendard"/>
              </a:rPr>
              <a:t>SAMSUNG GALAXY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566160"/>
            <a:ext cx="110642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Pretendard"/>
                <a:ea typeface="Pretendard"/>
              </a:rPr>
              <a:t>일상을 바꾸는
모바일 경험</a:t>
            </a:r>
          </a:p>
          <a:p>
            <a:pPr algn="l">
              <a:lnSpc>
                <a:spcPct val="125000"/>
              </a:lnSpc>
              <a:spcBef>
                <a:spcPts val="140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Pretendard"/>
                <a:ea typeface="Pretendard"/>
              </a:rPr>
              <a:t>Galaxy · 스마트폰 · 웨어러블 · 갤럭시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1428A0"/>
                </a:solidFill>
                <a:latin typeface="Pretendard"/>
                <a:ea typeface="Pretendard"/>
              </a:rPr>
              <a:t>SAMSUNG GALAXY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2798064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7432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28A0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74320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사업 개요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27432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552444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4975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28A0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49758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핵심 사업 영역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34975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06824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2519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28A0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25196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성장 전략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42519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5061203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50063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28A0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0063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성장 로드맵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50063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5815583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576072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28A0"/>
                </a:solidFill>
                <a:latin typeface="Pretendard"/>
                <a:ea typeface="Pretendard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76072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미래 비전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576072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788920"/>
            <a:ext cx="822960" cy="109728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0"/>
            <a:ext cx="10972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Pretendard"/>
                <a:ea typeface="Pretendard"/>
              </a:rPr>
              <a:t>01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Pretendard"/>
                <a:ea typeface="Pretendard"/>
              </a:rPr>
              <a:t>사업 개요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</a:rPr>
              <a:t>디바이스와 AI가 만나는 모바일 생태계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1428A0"/>
                </a:solidFill>
                <a:latin typeface="Pretendard"/>
                <a:ea typeface="Pretendard"/>
              </a:rPr>
              <a:t>01 · 사업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삼성전자 모바일가 그리는 미래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갤럭시 생태계로 모바일 경험을 혁신하는 역량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697480"/>
            <a:ext cx="5120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Why · 시장의 변화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099816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모바일 경험의 중심이 하드웨어에서 온디바이스 AI로 이동하고 있습니다.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840480"/>
            <a:ext cx="5120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What · 사업 영역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242816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갤럭시 생태계로 모바일 경험을 혁신하는 역량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983480"/>
            <a:ext cx="5120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How · 실행 전략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385816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디바이스·생태계·AI를 결합해 끊김 없는 사용자 경험을 제공합니다.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2724912"/>
            <a:ext cx="5257800" cy="338328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2724912"/>
            <a:ext cx="82296" cy="338328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39128" y="3054096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60">
                <a:solidFill>
                  <a:srgbClr val="1428A0"/>
                </a:solidFill>
                <a:latin typeface="Pretendard"/>
                <a:ea typeface="Pretendard"/>
              </a:rPr>
              <a:t>핵심 지향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9128" y="3511296"/>
            <a:ext cx="4526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갤럭시 생태계로 모바일 경험을 혁신하는 역량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9128" y="4315968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· Galaxy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9128" y="4700016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· 스마트폰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9128" y="5084064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· 웨어러블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9128" y="5468112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· 갤럭시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788920"/>
            <a:ext cx="822960" cy="109728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0"/>
            <a:ext cx="10972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Pretendard"/>
                <a:ea typeface="Pretendard"/>
              </a:rPr>
              <a:t>02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Pretendard"/>
                <a:ea typeface="Pretendard"/>
              </a:rPr>
              <a:t>핵심 사업 영역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</a:rPr>
              <a:t>디바이스와 AI가 만나는 모바일 생태계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1428A0"/>
                </a:solidFill>
                <a:latin typeface="Pretendard"/>
                <a:ea typeface="Pretendard"/>
              </a:rPr>
              <a:t>02 · 핵심 사업 영역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핵심 사업 영역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디바이스와 AI가 만나는 모바일 생태계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martphone-451e40d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670048"/>
            <a:ext cx="402336" cy="4023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3236976"/>
            <a:ext cx="5257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Pretendard"/>
                <a:ea typeface="Pretendard"/>
              </a:rPr>
              <a:t>갤럭시 스마트폰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657600"/>
            <a:ext cx="5257800" cy="6080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플래그십부터 보급형까지 폭넓은 라인업으로 글로벌 시장을 이끕니다.</a:t>
            </a:r>
          </a:p>
        </p:txBody>
      </p:sp>
      <p:pic>
        <p:nvPicPr>
          <p:cNvPr id="10" name="Picture 9" descr="tablet-3dc51e3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2670048"/>
            <a:ext cx="402336" cy="4023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73368" y="3236976"/>
            <a:ext cx="5257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Pretendard"/>
                <a:ea typeface="Pretendard"/>
              </a:rPr>
              <a:t>태블릿 · PC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3657600"/>
            <a:ext cx="5257800" cy="6080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갤럭시 탭·북으로 생산성과 창작 경험을 확장합니다.</a:t>
            </a:r>
          </a:p>
        </p:txBody>
      </p:sp>
      <p:pic>
        <p:nvPicPr>
          <p:cNvPr id="13" name="Picture 12" descr="watch-6128627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4421124"/>
            <a:ext cx="402336" cy="4023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4988052"/>
            <a:ext cx="5257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Pretendard"/>
                <a:ea typeface="Pretendard"/>
              </a:rPr>
              <a:t>웨어러블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408676"/>
            <a:ext cx="5257800" cy="6080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워치·버즈로 건강·오디오 경험을 손목과 귀로 넓힙니다.</a:t>
            </a:r>
          </a:p>
        </p:txBody>
      </p:sp>
      <p:pic>
        <p:nvPicPr>
          <p:cNvPr id="16" name="Picture 15" descr="sparkles-582e891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368" y="4421124"/>
            <a:ext cx="402336" cy="40233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73368" y="4988052"/>
            <a:ext cx="5257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Pretendard"/>
                <a:ea typeface="Pretendard"/>
              </a:rPr>
              <a:t>갤럭시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5408676"/>
            <a:ext cx="5257800" cy="6080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온디바이스 AI로 번역·요약·촬영 경험을 재정의합니다.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1428A0"/>
                </a:solidFill>
                <a:latin typeface="Pretendard"/>
                <a:ea typeface="Pretendard"/>
              </a:rPr>
              <a:t>03 · 성장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현재에서 확대 방향으로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각 사업 영역의 현재와 확대 방향 (표기는 예시)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abl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252" y="2468880"/>
            <a:ext cx="8299591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1428A0"/>
                </a:solidFill>
                <a:latin typeface="Pretendard"/>
                <a:ea typeface="Pretendard"/>
              </a:rPr>
              <a:t>03 · 성장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성장 전략 4대 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갤럭시 생태계로 모바일 경험을 혁신하는 역량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697480"/>
            <a:ext cx="301752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A4A4A"/>
                </a:solidFill>
                <a:latin typeface="Pretendard"/>
                <a:ea typeface="Pretendard"/>
              </a:rPr>
              <a:t>갤럭시 생태계로 모바일 경험을 혁신하는 역량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2651760"/>
            <a:ext cx="868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428A0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651760"/>
            <a:ext cx="66751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</a:rPr>
              <a:t>갤럭시 AI 확산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3035808"/>
            <a:ext cx="6675119" cy="4229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번역·요약·촬영을 온디바이스 AI로 재정의합니다.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3531870"/>
            <a:ext cx="868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428A0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3531870"/>
            <a:ext cx="66751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</a:rPr>
              <a:t>폴더블 대중화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3915918"/>
            <a:ext cx="6675119" cy="4229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폼팩터 혁신으로 프리미엄 시장을 넓힙니다.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4411980"/>
            <a:ext cx="868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428A0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4411980"/>
            <a:ext cx="66751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</a:rPr>
              <a:t>생태계 연결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4796028"/>
            <a:ext cx="6675119" cy="4229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워치·버즈·탭·북을 하나의 경험으로 연결합니다.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5292090"/>
            <a:ext cx="868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428A0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5292090"/>
            <a:ext cx="66751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</a:rPr>
              <a:t>지속가능 디자인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5676138"/>
            <a:ext cx="6675119" cy="4229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친환경 소재와 장기 지원으로 가치를 더합니다.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1428A0"/>
                </a:solidFill>
                <a:latin typeface="Pretendard"/>
                <a:ea typeface="Pretendard"/>
              </a:rPr>
              <a:t>04 · 성장 로드맵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성장 로드맵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단계적 성장 전개 (일정은 브랜드 테마 예시)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933" y="2468880"/>
            <a:ext cx="9366228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1428A0"/>
                </a:solidFill>
                <a:latin typeface="Pretendard"/>
                <a:ea typeface="Pretendard"/>
              </a:rPr>
              <a:t>04 · 성장 로드맵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성장 지표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갤럭시 생태계로 모바일 경험을 혁신하는 역량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kpi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696" y="2514600"/>
            <a:ext cx="9400703" cy="3566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61722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8A8A"/>
                </a:solidFill>
                <a:latin typeface="Pretendard"/>
                <a:ea typeface="Pretendard"/>
              </a:rPr>
              <a:t>※ 수치는 브랜드 테마 디자인 예시입니다 (illustrative placeholder values)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651760"/>
            <a:ext cx="822960" cy="109728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880360"/>
            <a:ext cx="110642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Pretendard"/>
                <a:ea typeface="Pretendard"/>
              </a:rPr>
              <a:t>모바일의 미래를
갤럭시로 그립니다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</a:rPr>
              <a:t>Samsung Galaxy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Pretendard"/>
                <a:ea typeface="Pretendard"/>
              </a:rPr>
              <a:t>brand-inspired sample deck · 상표는 삼성전자 (Samsung Electronics Co., Ltd.)의 자산입니다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