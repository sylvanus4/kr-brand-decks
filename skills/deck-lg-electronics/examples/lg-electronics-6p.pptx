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5003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822960" cy="109728"/>
          </a:xfrm>
          <a:prstGeom prst="rect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868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80">
                <a:solidFill>
                  <a:srgbClr val="FFFFFF"/>
                </a:solidFill>
                <a:latin typeface="Pretendard"/>
                <a:ea typeface="Pretendard"/>
              </a:rPr>
              <a:t>LG ELECTRONICS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5661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Pretendard"/>
                <a:ea typeface="Pretendard"/>
              </a:rPr>
              <a:t>고객의 삶을
더 좋게, 더 스마트하게</a:t>
            </a:r>
          </a:p>
          <a:p>
            <a:pPr algn="l">
              <a:lnSpc>
                <a:spcPct val="125000"/>
              </a:lnSpc>
              <a:spcBef>
                <a:spcPts val="140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Pretendard"/>
                <a:ea typeface="Pretendard"/>
              </a:rPr>
              <a:t>H&amp;A · HE · VS · B2B Solution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Contents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79806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A50034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74320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회사 개요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80390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3749039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A50034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749039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3749039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480974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4754879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A50034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4754879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지표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0" y="4754879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581558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A50034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76072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미래 비전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5003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600" b="1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핵심 사업 영역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생활가전에서 전장까지 확장하는 포트폴리오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A50034"/>
                </a:solidFill>
                <a:latin typeface="Pretendard"/>
                <a:ea typeface="Pretendard"/>
              </a:rPr>
              <a:t>BUSINESS PORTFOLIO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09344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A4A"/>
                </a:solidFill>
                <a:latin typeface="Pretendard"/>
                <a:ea typeface="Pretendard"/>
              </a:rPr>
              <a:t>생활가전에서 전장까지 확장하는 포트폴리오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651760"/>
            <a:ext cx="457200" cy="457200"/>
          </a:xfrm>
          <a:prstGeom prst="rect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65176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633472"/>
            <a:ext cx="4617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생활가전 (H&amp;A)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255264"/>
            <a:ext cx="5257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냉장고·세탁기 등 프리미엄 가전으로 글로벌 리더십을 유지합니다.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73368" y="2651760"/>
            <a:ext cx="457200" cy="457200"/>
          </a:xfrm>
          <a:prstGeom prst="rect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3368" y="265176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59" y="2633472"/>
            <a:ext cx="4617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홈엔터테인먼트 (HE)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3368" y="3255264"/>
            <a:ext cx="5257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OLED TV를 중심으로 프리미엄 디스플레이 경험을 제공합니다.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389120"/>
            <a:ext cx="457200" cy="457200"/>
          </a:xfrm>
          <a:prstGeom prst="rect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43891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370832"/>
            <a:ext cx="4617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전장 (VS)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992624"/>
            <a:ext cx="5257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차량용 인포테인먼트·전동화 부품으로 미래 모빌리티에 대응합니다.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73368" y="4389120"/>
            <a:ext cx="457200" cy="457200"/>
          </a:xfrm>
          <a:prstGeom prst="rect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3368" y="43891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5159" y="4370832"/>
            <a:ext cx="4617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B2B 솔루션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4992624"/>
            <a:ext cx="5257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사이니지·로봇·HVAC로 상업·산업 고객 가치를 창출합니다.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A50034"/>
                </a:solidFill>
                <a:latin typeface="Pretendard"/>
                <a:ea typeface="Pretendard"/>
              </a:rPr>
              <a:t>GROWTH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지표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09344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A4A"/>
                </a:solidFill>
                <a:latin typeface="Pretendard"/>
                <a:ea typeface="Pretendard"/>
              </a:rPr>
              <a:t>가전·TV·전장을 아우르는 스마트 라이프 솔루션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kpi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8696" y="2514600"/>
            <a:ext cx="9400703" cy="3566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A8A8A"/>
                </a:solidFill>
                <a:latin typeface="Pretendard"/>
                <a:ea typeface="Pretendard"/>
              </a:rPr>
              <a:t>※ 수치는 브랜드 테마 디자인 예시입니다 (illustrative placeholder values)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5003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651760"/>
            <a:ext cx="822960" cy="109728"/>
          </a:xfrm>
          <a:prstGeom prst="rect">
            <a:avLst/>
          </a:prstGeom>
          <a:solidFill>
            <a:srgbClr val="A50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8803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Pretendard"/>
                <a:ea typeface="Pretendard"/>
              </a:rPr>
              <a:t>Life's Good,
혁신은 계속됩니다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LG Electronics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Pretendard"/>
                <a:ea typeface="Pretendard"/>
              </a:rPr>
              <a:t>brand-inspired sample deck · 상표는 LG전자 (LG Electronics Inc.)의 자산입니다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