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500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80">
                <a:solidFill>
                  <a:srgbClr val="FFFFFF"/>
                </a:solidFill>
                <a:latin typeface="Pretendard"/>
                <a:ea typeface="Pretendard"/>
              </a:rPr>
              <a:t>LG ELECTRONICS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661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retendard"/>
                <a:ea typeface="Pretendard"/>
              </a:rPr>
              <a:t>고객의 삶을
더 좋게, 더 스마트하게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Pretendard"/>
                <a:ea typeface="Pretendard"/>
              </a:rPr>
              <a:t>H&amp;A · HE · VS · B2B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A50034"/>
                </a:solidFill>
                <a:latin typeface="Pretendard"/>
                <a:ea typeface="Pretendard"/>
              </a:rPr>
              <a:t>LG ELECTRONICS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79806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A50034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432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사업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55244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A50034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4975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0682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A50034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5196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전략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06120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A50034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0063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로드맵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81558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A50034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7607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미래 비전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500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사업 개요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생활가전에서 전장까지 확장하는 포트폴리오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A50034"/>
                </a:solidFill>
                <a:latin typeface="Pretendard"/>
                <a:ea typeface="Pretendard"/>
              </a:rPr>
              <a:t>01 · 사업 개요</a:t>
            </a:r>
          </a:p>
        </p:txBody>
      </p:sp>
      <p:pic>
        <p:nvPicPr>
          <p:cNvPr id="3" name="Picture 2" descr="layout-grid-47e949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LG전자가 그리는 미래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가전·TV·전장을 아우르는 스마트 라이프 솔루션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697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Why · 시장의 변화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099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가전 시장이 하드웨어 판매에서 구독·서비스·B2B로 확장되고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840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What · 사업 영역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242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가전·TV·전장을 아우르는 스마트 라이프 솔루션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983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How · 실행 전략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385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프리미엄 가전·OLED·전장·B2B 솔루션으로 균형 성장합니다.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724912"/>
            <a:ext cx="5257800" cy="338328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2724912"/>
            <a:ext cx="82296" cy="338328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3054096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60">
                <a:solidFill>
                  <a:srgbClr val="A50034"/>
                </a:solidFill>
                <a:latin typeface="Pretendard"/>
                <a:ea typeface="Pretendard"/>
              </a:rPr>
              <a:t>핵심 지향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3511296"/>
            <a:ext cx="4526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가전·TV·전장을 아우르는 스마트 라이프 솔루션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4315968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H&amp;A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4700016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5084064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VS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5468112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B2B Solution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500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핵심 사업 영역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생활가전에서 전장까지 확장하는 포트폴리오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A50034"/>
                </a:solidFill>
                <a:latin typeface="Pretendard"/>
                <a:ea typeface="Pretendard"/>
              </a:rPr>
              <a:t>02 · 핵심 사업 영역</a:t>
            </a:r>
          </a:p>
        </p:txBody>
      </p:sp>
      <p:pic>
        <p:nvPicPr>
          <p:cNvPr id="3" name="Picture 2" descr="briefcase-15c2b2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생활가전에서 전장까지 확장하는 포트폴리오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frigerator-ead44d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670048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생활가전 (H&amp;A)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냉장고·세탁기 등 프리미엄 가전으로 글로벌 리더십을 유지합니다.</a:t>
            </a:r>
          </a:p>
        </p:txBody>
      </p:sp>
      <p:pic>
        <p:nvPicPr>
          <p:cNvPr id="11" name="Picture 10" descr="tv-61e8e7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2670048"/>
            <a:ext cx="402336" cy="4023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7336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홈엔터테인먼트 (HE)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OLED TV를 중심으로 프리미엄 디스플레이 경험을 제공합니다.</a:t>
            </a:r>
          </a:p>
        </p:txBody>
      </p:sp>
      <p:pic>
        <p:nvPicPr>
          <p:cNvPr id="14" name="Picture 13" descr="car-048caf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421124"/>
            <a:ext cx="402336" cy="4023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692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전장 (VS)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차량용 인포테인먼트·전동화 부품으로 미래 모빌리티에 대응합니다.</a:t>
            </a:r>
          </a:p>
        </p:txBody>
      </p:sp>
      <p:pic>
        <p:nvPicPr>
          <p:cNvPr id="17" name="Picture 16" descr="building-2-0029ed4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4421124"/>
            <a:ext cx="402336" cy="4023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7336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B2B 솔루션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사이니지·로봇·HVAC로 상업·산업 고객 가치를 창출합니다.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A50034"/>
                </a:solidFill>
                <a:latin typeface="Pretendard"/>
                <a:ea typeface="Pretendard"/>
              </a:rPr>
              <a:t>03 · 성장 전략</a:t>
            </a:r>
          </a:p>
        </p:txBody>
      </p:sp>
      <p:pic>
        <p:nvPicPr>
          <p:cNvPr id="3" name="Picture 2" descr="compass-d9508a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현재에서 확대 방향으로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각 사업 영역의 현재와 확대 방향 (표기는 예시)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abl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252" y="2468880"/>
            <a:ext cx="829959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A50034"/>
                </a:solidFill>
                <a:latin typeface="Pretendard"/>
                <a:ea typeface="Pretendard"/>
              </a:rPr>
              <a:t>03 · 성장 전략</a:t>
            </a:r>
          </a:p>
        </p:txBody>
      </p:sp>
      <p:pic>
        <p:nvPicPr>
          <p:cNvPr id="3" name="Picture 2" descr="compass-d9508a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전략 4대 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가전·TV·전장을 아우르는 스마트 라이프 솔루션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697480"/>
            <a:ext cx="30175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4A4A"/>
                </a:solidFill>
                <a:latin typeface="Pretendard"/>
                <a:ea typeface="Pretendard"/>
              </a:rPr>
              <a:t>가전·TV·전장을 아우르는 스마트 라이프 솔루션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65176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A50034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65176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전장 성장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03580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전동화 부품으로 미래 모빌리티에 대응합니다.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53187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A50034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53187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플랫폼·구독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91591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웹OS와 구독 모델로 반복 매출을 키웁니다.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41198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A50034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41198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B2B 확장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79602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사이니지·HVAC·로봇으로 상업 시장을 넓힙니다.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529209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A50034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529209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AI 가전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567613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온디바이스 AI로 스마트홈 경험을 고도화합니다.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A50034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pic>
        <p:nvPicPr>
          <p:cNvPr id="3" name="Picture 2" descr="trending-up-ad54c9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단계적 성장 전개 (일정은 브랜드 테마 예시)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oa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933" y="2468880"/>
            <a:ext cx="9366228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A50034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pic>
        <p:nvPicPr>
          <p:cNvPr id="3" name="Picture 2" descr="trending-up-ad54c9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지표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가전·TV·전장을 아우르는 스마트 라이프 솔루션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pi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696" y="2514600"/>
            <a:ext cx="9400703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8A8A"/>
                </a:solidFill>
                <a:latin typeface="Pretendard"/>
                <a:ea typeface="Pretendard"/>
              </a:rPr>
              <a:t>※ 수치는 브랜드 테마 디자인 예시입니다 (illustrative placeholder values)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5003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lag-7366ec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0"/>
            <a:ext cx="566928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265176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8803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Pretendard"/>
                <a:ea typeface="Pretendard"/>
              </a:rPr>
              <a:t>Life's Good,
혁신은 계속됩니다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LG Electronics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retendard"/>
                <a:ea typeface="Pretendard"/>
              </a:rPr>
              <a:t>brand-inspired sample deck · 상표는 LG전자 (LG Electronics Inc.)의 자산입니다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