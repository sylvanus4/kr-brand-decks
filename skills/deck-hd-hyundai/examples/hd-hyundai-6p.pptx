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822960" cy="109728"/>
          </a:xfrm>
          <a:prstGeom prst="rect">
            <a:avLst/>
          </a:prstGeom>
          <a:solidFill>
            <a:srgbClr val="00A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80">
                <a:solidFill>
                  <a:srgbClr val="FFFFFF"/>
                </a:solidFill>
                <a:latin typeface="Pretendard"/>
                <a:ea typeface="Pretendard"/>
              </a:rPr>
              <a:t>HD HYUNDAI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5661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retendard"/>
                <a:ea typeface="Pretendard"/>
              </a:rPr>
              <a:t>바다에서 미래로,
중공업의 진화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Pretendard"/>
                <a:ea typeface="Pretendard"/>
              </a:rPr>
              <a:t>Shipbuilding · Machinery · Energy · Robotics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0AD1D"/>
                </a:solidFill>
                <a:latin typeface="Pretendard"/>
                <a:ea typeface="Pretendard"/>
              </a:rPr>
              <a:t>HD HYUNDAI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0A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79806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AD1D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432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사업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55244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AD1D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4975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0682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AD1D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5196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전략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06120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AD1D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0063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로드맵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81558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AD1D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7607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미래 비전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00A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사업 개요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조선·에너지·기계·로봇의 통합 역량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0AD1D"/>
                </a:solidFill>
                <a:latin typeface="Pretendard"/>
                <a:ea typeface="Pretendard"/>
              </a:rPr>
              <a:t>01 · 사업 개요</a:t>
            </a:r>
          </a:p>
        </p:txBody>
      </p:sp>
      <p:pic>
        <p:nvPicPr>
          <p:cNvPr id="3" name="Picture 2" descr="layout-grid-47e949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HD현대가 그리는 미래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조선·에너지·기계를 아우르는 중공업 리더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0A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697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Why · 시장의 변화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099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조선 슈퍼사이클과 에너지 전환이 중공업의 성장을 이끌고 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840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What · 사업 영역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242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조선·에너지·기계를 아우르는 중공업 리더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983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How · 실행 전략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385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조선·기계·에너지·로봇의 통합 역량으로 대응합니다.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724912"/>
            <a:ext cx="5257800" cy="338328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2724912"/>
            <a:ext cx="82296" cy="3383280"/>
          </a:xfrm>
          <a:prstGeom prst="rect">
            <a:avLst/>
          </a:prstGeom>
          <a:solidFill>
            <a:srgbClr val="00A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3054096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60">
                <a:solidFill>
                  <a:srgbClr val="00AD1D"/>
                </a:solidFill>
                <a:latin typeface="Pretendard"/>
                <a:ea typeface="Pretendard"/>
              </a:rPr>
              <a:t>핵심 지향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3511296"/>
            <a:ext cx="4526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조선·에너지·기계를 아우르는 중공업 리더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8" y="4315968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Shipbuilding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4700016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Machinery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5084064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Energy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5468112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Robotics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00A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02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핵심 사업 영역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조선·에너지·기계·로봇의 통합 역량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0AD1D"/>
                </a:solidFill>
                <a:latin typeface="Pretendard"/>
                <a:ea typeface="Pretendard"/>
              </a:rPr>
              <a:t>02 · 핵심 사업 영역</a:t>
            </a:r>
          </a:p>
        </p:txBody>
      </p:sp>
      <p:pic>
        <p:nvPicPr>
          <p:cNvPr id="3" name="Picture 2" descr="briefcase-15c2b2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조선·에너지·기계·로봇의 통합 역량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0A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hip-d9aa1a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670048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3236976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조선 · 해양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657600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친환경 선박과 해양플랜트로 글로벌 수주를 이끕니다.</a:t>
            </a:r>
          </a:p>
        </p:txBody>
      </p:sp>
      <p:pic>
        <p:nvPicPr>
          <p:cNvPr id="11" name="Picture 10" descr="wrench-b14396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2670048"/>
            <a:ext cx="402336" cy="4023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73368" y="3236976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건설기계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3657600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굴착기 등 기계로 세계 인프라 건설에 기여합니다.</a:t>
            </a:r>
          </a:p>
        </p:txBody>
      </p:sp>
      <p:pic>
        <p:nvPicPr>
          <p:cNvPr id="14" name="Picture 13" descr="zap-2981ec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421124"/>
            <a:ext cx="402336" cy="4023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6928" y="4988052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에너지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408676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정유·전동화 솔루션으로 에너지 전환에 대응합니다.</a:t>
            </a:r>
          </a:p>
        </p:txBody>
      </p:sp>
      <p:pic>
        <p:nvPicPr>
          <p:cNvPr id="17" name="Picture 16" descr="bot-96e5f1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4421124"/>
            <a:ext cx="402336" cy="4023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73368" y="4988052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로보틱스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5408676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산업·서비스 로봇으로 미래 성장 동력을 확보합니다.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0AD1D"/>
                </a:solidFill>
                <a:latin typeface="Pretendard"/>
                <a:ea typeface="Pretendard"/>
              </a:rPr>
              <a:t>03 · 성장 전략</a:t>
            </a:r>
          </a:p>
        </p:txBody>
      </p:sp>
      <p:pic>
        <p:nvPicPr>
          <p:cNvPr id="3" name="Picture 2" descr="compass-d9508a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현재에서 확대 방향으로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각 사업 영역의 현재와 확대 방향 (표기는 예시)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0A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abl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252" y="2468880"/>
            <a:ext cx="8299591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0AD1D"/>
                </a:solidFill>
                <a:latin typeface="Pretendard"/>
                <a:ea typeface="Pretendard"/>
              </a:rPr>
              <a:t>03 · 성장 전략</a:t>
            </a:r>
          </a:p>
        </p:txBody>
      </p:sp>
      <p:pic>
        <p:nvPicPr>
          <p:cNvPr id="3" name="Picture 2" descr="compass-d9508a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전략 4대 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조선·에너지·기계를 아우르는 중공업 리더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0A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697480"/>
            <a:ext cx="30175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4A4A"/>
                </a:solidFill>
                <a:latin typeface="Pretendard"/>
                <a:ea typeface="Pretendard"/>
              </a:rPr>
              <a:t>조선·에너지·기계를 아우르는 중공업 리더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65176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AD1D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65176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친환경 선박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03580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암모니아·메탄올 추진 선박을 확대합니다.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53187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AD1D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53187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기계 전동화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91591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전동·자율 건설기계로 전환합니다.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441198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AD1D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41198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에너지 전환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79602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친환경 에너지 사업을 키웁니다.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529209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AD1D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529209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로보틱스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567613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산업·서비스 로봇으로 성장 동력을 확보합니다.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0AD1D"/>
                </a:solidFill>
                <a:latin typeface="Pretendard"/>
                <a:ea typeface="Pretendard"/>
              </a:rPr>
              <a:t>04 · 성장 로드맵</a:t>
            </a:r>
          </a:p>
        </p:txBody>
      </p:sp>
      <p:pic>
        <p:nvPicPr>
          <p:cNvPr id="3" name="Picture 2" descr="trending-up-ad54c9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단계적 성장 전개 (일정은 브랜드 테마 예시)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0A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oad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933" y="2468880"/>
            <a:ext cx="9366228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0AD1D"/>
                </a:solidFill>
                <a:latin typeface="Pretendard"/>
                <a:ea typeface="Pretendard"/>
              </a:rPr>
              <a:t>04 · 성장 로드맵</a:t>
            </a:r>
          </a:p>
        </p:txBody>
      </p:sp>
      <p:pic>
        <p:nvPicPr>
          <p:cNvPr id="3" name="Picture 2" descr="trending-up-ad54c9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지표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조선·에너지·기계를 아우르는 중공업 리더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0A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pi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696" y="2514600"/>
            <a:ext cx="9400703" cy="3566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8A8A"/>
                </a:solidFill>
                <a:latin typeface="Pretendard"/>
                <a:ea typeface="Pretendard"/>
              </a:rPr>
              <a:t>※ 수치는 브랜드 테마 디자인 예시입니다 (illustrative placeholder values)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ocket-73d2e5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0"/>
            <a:ext cx="566928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2651760"/>
            <a:ext cx="822960" cy="109728"/>
          </a:xfrm>
          <a:prstGeom prst="rect">
            <a:avLst/>
          </a:prstGeom>
          <a:solidFill>
            <a:srgbClr val="00A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8803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Pretendard"/>
                <a:ea typeface="Pretendard"/>
              </a:rPr>
              <a:t>미래를 여는
중공업의 힘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HD Hyundai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Pretendard"/>
                <a:ea typeface="Pretendard"/>
              </a:rPr>
              <a:t>brand-inspired sample deck · 상표는 HD현대 (HD Hyundai Co., Ltd.)의 자산입니다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