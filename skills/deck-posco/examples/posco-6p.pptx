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308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8686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80">
                <a:solidFill>
                  <a:srgbClr val="FFFFFF"/>
                </a:solidFill>
                <a:latin typeface="Pretendard"/>
                <a:ea typeface="Pretendard"/>
              </a:rPr>
              <a:t>POSCO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5661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Pretendard"/>
                <a:ea typeface="Pretendard"/>
              </a:rPr>
              <a:t>소재로 미래를
짓다</a:t>
            </a:r>
          </a:p>
          <a:p>
            <a:pPr algn="l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Pretendard"/>
                <a:ea typeface="Pretendard"/>
              </a:rPr>
              <a:t>Steel · Battery Materials · Lithium · Green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53080"/>
                </a:solidFill>
                <a:latin typeface="Pretendard"/>
                <a:ea typeface="Pretendard"/>
              </a:rPr>
              <a:t>POSCO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53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279806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53080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74320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사업 개요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55244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53080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49758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0682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53080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25196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전략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506120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53080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0063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81558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53080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7607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미래 비전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308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사업 개요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철강과 2차전지 소재의 균형 성장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53080"/>
                </a:solidFill>
                <a:latin typeface="Pretendard"/>
                <a:ea typeface="Pretendard"/>
              </a:rPr>
              <a:t>01 · 사업 개요</a:t>
            </a:r>
          </a:p>
        </p:txBody>
      </p:sp>
      <p:pic>
        <p:nvPicPr>
          <p:cNvPr id="3" name="Picture 2" descr="layout-grid-47e949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포스코가 그리는 미래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철강을 넘어 2차전지 소재로 확장하는 소재 기업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53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697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Why · 시장의 변화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099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철강 수요 둔화 속 2차전지 소재가 새로운 성장 축이 되고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840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What · 사업 영역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242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철강을 넘어 2차전지 소재로 확장하는 소재 기업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983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How · 실행 전략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385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철강 경쟁력을 유지하며 소재·친환경으로 사업을 확장합니다.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2724912"/>
            <a:ext cx="5257800" cy="338328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55080" y="2724912"/>
            <a:ext cx="82296" cy="3383280"/>
          </a:xfrm>
          <a:prstGeom prst="rect">
            <a:avLst/>
          </a:prstGeom>
          <a:solidFill>
            <a:srgbClr val="053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39128" y="305409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60">
                <a:solidFill>
                  <a:srgbClr val="053080"/>
                </a:solidFill>
                <a:latin typeface="Pretendard"/>
                <a:ea typeface="Pretendard"/>
              </a:rPr>
              <a:t>핵심 지향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9128" y="3511296"/>
            <a:ext cx="4526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철강을 넘어 2차전지 소재로 확장하는 소재 기업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9128" y="4315968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Steel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39128" y="470001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Battery Materials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9128" y="5084064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Lithium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39128" y="5468112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Green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308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02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핵심 사업 영역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철강과 2차전지 소재의 균형 성장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53080"/>
                </a:solidFill>
                <a:latin typeface="Pretendard"/>
                <a:ea typeface="Pretendard"/>
              </a:rPr>
              <a:t>02 · 핵심 사업 영역</a:t>
            </a:r>
          </a:p>
        </p:txBody>
      </p:sp>
      <p:pic>
        <p:nvPicPr>
          <p:cNvPr id="3" name="Picture 2" descr="briefcase-15c2b2d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철강과 2차전지 소재의 균형 성장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53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actory-0e3550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670048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철강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친환경 고급강으로 글로벌 철강 리더십을 이어갑니다.</a:t>
            </a:r>
          </a:p>
        </p:txBody>
      </p:sp>
      <p:pic>
        <p:nvPicPr>
          <p:cNvPr id="11" name="Picture 10" descr="battery-2caacb2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3368" y="2670048"/>
            <a:ext cx="402336" cy="40233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37336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2차전지 소재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336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양·음극재로 배터리 밸류체인의 핵심을 담당합니다.</a:t>
            </a:r>
          </a:p>
        </p:txBody>
      </p:sp>
      <p:pic>
        <p:nvPicPr>
          <p:cNvPr id="14" name="Picture 13" descr="atom-d921144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" y="4421124"/>
            <a:ext cx="402336" cy="40233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6692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리튬 · 니켈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원료 확보로 소재 사업의 수직계열화를 완성합니다.</a:t>
            </a:r>
          </a:p>
        </p:txBody>
      </p:sp>
      <p:pic>
        <p:nvPicPr>
          <p:cNvPr id="17" name="Picture 16" descr="leaf-d52ae0c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3368" y="4421124"/>
            <a:ext cx="402336" cy="40233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7336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친환경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336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수소·저탄소 공정으로 탄소중립 전환을 추진합니다.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53080"/>
                </a:solidFill>
                <a:latin typeface="Pretendard"/>
                <a:ea typeface="Pretendard"/>
              </a:rPr>
              <a:t>03 · 성장 전략</a:t>
            </a:r>
          </a:p>
        </p:txBody>
      </p:sp>
      <p:pic>
        <p:nvPicPr>
          <p:cNvPr id="3" name="Picture 2" descr="compass-d9508a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현재에서 확대 방향으로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각 사업 영역의 현재와 확대 방향 (표기는 예시)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53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able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9252" y="2468880"/>
            <a:ext cx="8299591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53080"/>
                </a:solidFill>
                <a:latin typeface="Pretendard"/>
                <a:ea typeface="Pretendard"/>
              </a:rPr>
              <a:t>03 · 성장 전략</a:t>
            </a:r>
          </a:p>
        </p:txBody>
      </p:sp>
      <p:pic>
        <p:nvPicPr>
          <p:cNvPr id="3" name="Picture 2" descr="compass-d9508a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전략 4대 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철강을 넘어 2차전지 소재로 확장하는 소재 기업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53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697480"/>
            <a:ext cx="301752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4A4A"/>
                </a:solidFill>
                <a:latin typeface="Pretendard"/>
                <a:ea typeface="Pretendard"/>
              </a:rPr>
              <a:t>철강을 넘어 2차전지 소재로 확장하는 소재 기업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265176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53080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265176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소재 성장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303580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양·음극재로 배터리 밸류체인을 담당합니다.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0" y="353187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53080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353187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원료 내재화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391591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리튬·니켈 확보로 경쟁력을 높입니다.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441198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53080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441198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탄소중립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479602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수소환원제철로 저탄소 전환을 추진합니다.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0" y="529209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53080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529209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철강 고도화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0" y="567613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친환경 고급강으로 리더십을 유지합니다.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53080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pic>
        <p:nvPicPr>
          <p:cNvPr id="3" name="Picture 2" descr="trending-up-ad54c9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단계적 성장 전개 (일정은 브랜드 테마 예시)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53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oad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5933" y="2468880"/>
            <a:ext cx="9366228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53080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pic>
        <p:nvPicPr>
          <p:cNvPr id="3" name="Picture 2" descr="trending-up-ad54c9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지표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철강을 넘어 2차전지 소재로 확장하는 소재 기업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53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kpi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8696" y="2514600"/>
            <a:ext cx="9400703" cy="3566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A8A8A"/>
                </a:solidFill>
                <a:latin typeface="Pretendard"/>
                <a:ea typeface="Pretendard"/>
              </a:rPr>
              <a:t>※ 수치는 브랜드 테마 디자인 예시입니다 (illustrative placeholder values)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308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ocket-57869d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0"/>
            <a:ext cx="566928" cy="56692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40080" y="265176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8803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Pretendard"/>
                <a:ea typeface="Pretendard"/>
              </a:rPr>
              <a:t>더 나은 미래를
소재로 만듭니다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POSCO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035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Pretendard"/>
                <a:ea typeface="Pretendard"/>
              </a:rPr>
              <a:t>brand-inspired sample deck · 상표는 포스코 (POSCO Holdings)의 자산입니다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