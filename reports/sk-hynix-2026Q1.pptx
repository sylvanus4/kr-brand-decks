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SK HYNIX · QUARTERLY BUSINESS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2026년 1분기
경영실적 보고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2026-04-23 발표 · 연결 기준 (K-IFRS)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SK HYNIX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실적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B9CA1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연결 손익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B9CA1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분기 추세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B9CA1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재무 건전성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B9CA1"/>
                </a:solidFill>
                <a:latin typeface="Pretendard"/>
                <a:ea typeface="Pretendard"/>
              </a:rPr>
              <a:t>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002C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현황 · 전망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B9CA1"/>
                </a:solidFill>
                <a:latin typeface="Pretendard"/>
                <a:ea typeface="Pretendard"/>
              </a:rPr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0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실적 요약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분기 사상 최대 실적 — 매출 최초 50조원 돌파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01 · 실적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2026년 1분기 핵심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65A"/>
                </a:solidFill>
                <a:latin typeface="Pretendard"/>
                <a:ea typeface="Pretendard"/>
              </a:rPr>
              <a:t>매출·영업이익·이익률 모두 창사 이래 최고 (연결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788920"/>
            <a:ext cx="2491739" cy="246888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788920"/>
            <a:ext cx="2491739" cy="73152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154679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65A"/>
                </a:solidFill>
                <a:latin typeface="Pretendard"/>
                <a:ea typeface="Pretendard"/>
              </a:rPr>
              <a:t>매출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30168"/>
            <a:ext cx="1943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52.6조원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690872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002C"/>
                </a:solidFill>
                <a:latin typeface="Pretendard"/>
                <a:ea typeface="Pretendard"/>
              </a:rPr>
              <a:t>+198% YoY · +60% QoQ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4427" y="2788920"/>
            <a:ext cx="2491739" cy="246888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4427" y="2788920"/>
            <a:ext cx="2491739" cy="73152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8748" y="3154679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65A"/>
                </a:solidFill>
                <a:latin typeface="Pretendard"/>
                <a:ea typeface="Pretendard"/>
              </a:rPr>
              <a:t>영업이익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8748" y="3630168"/>
            <a:ext cx="1943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37.6조원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8748" y="4690872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002C"/>
                </a:solidFill>
                <a:latin typeface="Pretendard"/>
                <a:ea typeface="Pretendard"/>
              </a:rPr>
              <a:t>+405% YoY · +96% QoQ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7" y="2788920"/>
            <a:ext cx="2491739" cy="246888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7" y="2788920"/>
            <a:ext cx="2491739" cy="73152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7" y="3154679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65A"/>
                </a:solidFill>
                <a:latin typeface="Pretendard"/>
                <a:ea typeface="Pretendard"/>
              </a:rPr>
              <a:t>영업이익률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7" y="3630168"/>
            <a:ext cx="1943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72%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7" y="4690872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002C"/>
                </a:solidFill>
                <a:latin typeface="Pretendard"/>
                <a:ea typeface="Pretendard"/>
              </a:rPr>
              <a:t>+30%p YoY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39427" y="2788920"/>
            <a:ext cx="2491739" cy="246888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39427" y="2788920"/>
            <a:ext cx="2491739" cy="73152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3747" y="3154679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65A"/>
                </a:solidFill>
                <a:latin typeface="Pretendard"/>
                <a:ea typeface="Pretendard"/>
              </a:rPr>
              <a:t>당기순이익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3747" y="3630168"/>
            <a:ext cx="19430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40.4조원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3747" y="4690872"/>
            <a:ext cx="19430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002C"/>
                </a:solidFill>
                <a:latin typeface="Pretendard"/>
                <a:ea typeface="Pretendard"/>
              </a:rPr>
              <a:t>+398%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02 · 연결 손익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연결 손익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65A"/>
                </a:solidFill>
                <a:latin typeface="Pretendard"/>
                <a:ea typeface="Pretendard"/>
              </a:rPr>
              <a:t>2026년 1분기 실적 및 전년 동기 대비 (연결 기준, K-IFRS)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02 · 연결 손익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분기별 실적 추이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65A"/>
                </a:solidFill>
                <a:latin typeface="Pretendard"/>
                <a:ea typeface="Pretendard"/>
              </a:rPr>
              <a:t>최근 5개 분기 매출·영업이익·영업이익률 (조원)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0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분기 추세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AI 메모리 수요가 통상 업황 사이클을 압도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03 · 분기 추세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매출 · 영업이익 추이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65A"/>
                </a:solidFill>
                <a:latin typeface="Pretendard"/>
                <a:ea typeface="Pretendard"/>
              </a:rPr>
              <a:t>최근 5개 분기 (매출: 막대 · 영업이익: 선, 단위 조원)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en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941" y="2468880"/>
            <a:ext cx="918821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03 · 분기 추세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영업이익률 추이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65A"/>
                </a:solidFill>
                <a:latin typeface="Pretendard"/>
                <a:ea typeface="Pretendard"/>
              </a:rPr>
              <a:t>수익성 지속 개선 — 5개 분기 연속 상승 (단위 %)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37" y="2514600"/>
            <a:ext cx="93956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04 · 재무 건전성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재무 건전성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65A"/>
                </a:solidFill>
                <a:latin typeface="Pretendard"/>
                <a:ea typeface="Pretendard"/>
              </a:rPr>
              <a:t>AI 사이클 수익을 바탕으로 재무구조 대폭 개선 (1분기 말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788920"/>
            <a:ext cx="3444239" cy="246888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788920"/>
            <a:ext cx="3444239" cy="73152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154679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65A"/>
                </a:solidFill>
                <a:latin typeface="Pretendard"/>
                <a:ea typeface="Pretendard"/>
              </a:rPr>
              <a:t>현금성 자산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30168"/>
            <a:ext cx="28955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54.3조원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690872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002C"/>
                </a:solidFill>
                <a:latin typeface="Pretendard"/>
                <a:ea typeface="Pretendard"/>
              </a:rPr>
              <a:t>+19.4조 QoQ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6928" y="2788920"/>
            <a:ext cx="3444239" cy="246888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6928" y="2788920"/>
            <a:ext cx="3444239" cy="73152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1247" y="3154679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65A"/>
                </a:solidFill>
                <a:latin typeface="Pretendard"/>
                <a:ea typeface="Pretendard"/>
              </a:rPr>
              <a:t>순현금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1247" y="3630168"/>
            <a:ext cx="28955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35조원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1247" y="4690872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002C"/>
                </a:solidFill>
                <a:latin typeface="Pretendard"/>
                <a:ea typeface="Pretendard"/>
              </a:rPr>
              <a:t>차입금 19.3조 감소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6927" y="2788920"/>
            <a:ext cx="3444239" cy="2468880"/>
          </a:xfrm>
          <a:prstGeom prst="rect">
            <a:avLst/>
          </a:prstGeom>
          <a:solidFill>
            <a:srgbClr val="F7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6927" y="2788920"/>
            <a:ext cx="3444239" cy="73152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1247" y="3154679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65A"/>
                </a:solidFill>
                <a:latin typeface="Pretendard"/>
                <a:ea typeface="Pretendard"/>
              </a:rPr>
              <a:t>HBM 시장 점유율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1247" y="3630168"/>
            <a:ext cx="28955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A1A1A"/>
                </a:solidFill>
                <a:latin typeface="Pretendard"/>
                <a:ea typeface="Pretendard"/>
              </a:rPr>
              <a:t>58%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1247" y="4690872"/>
            <a:ext cx="28955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A002C"/>
                </a:solidFill>
                <a:latin typeface="Pretendard"/>
                <a:ea typeface="Pretendard"/>
              </a:rPr>
              <a:t>글로벌 1위 (Counterpoint)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EA002C"/>
                </a:solidFill>
                <a:latin typeface="Pretendard"/>
                <a:ea typeface="Pretendard"/>
              </a:rPr>
              <a:t>05 · 사업 현황 · 전망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하이라이트 · 전망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65A"/>
                </a:solidFill>
                <a:latin typeface="Pretendard"/>
                <a:ea typeface="Pretendard"/>
              </a:rPr>
              <a:t>AI 인프라 투자 확대가 메모리 수요를 견인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5565A"/>
                </a:solidFill>
                <a:latin typeface="Pretendard"/>
                <a:ea typeface="Pretendard"/>
              </a:rPr>
              <a:t>AI 데이터센터 수요가 향후 3년 생산능력 계획을 이미 초과하고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A002C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분기 최대 실적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65A"/>
                </a:solidFill>
                <a:latin typeface="Pretendard"/>
                <a:ea typeface="Pretendard"/>
              </a:rPr>
              <a:t>매출 최초 50조원 돌파, 영업이익·이익률(72%) 창사 이래 최고.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A002C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HBM 리더십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65A"/>
                </a:solidFill>
                <a:latin typeface="Pretendard"/>
                <a:ea typeface="Pretendard"/>
              </a:rPr>
              <a:t>HBM 시장 점유율 58%로 글로벌 1위 유지, 실적을 견인.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A002C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차세대 로드맵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65A"/>
                </a:solidFill>
                <a:latin typeface="Pretendard"/>
                <a:ea typeface="Pretendard"/>
              </a:rPr>
              <a:t>HBM4E(7세대) 2026년 하반기 샘플링, 2027년 양산 목표.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A002C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재무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65A"/>
                </a:solidFill>
                <a:latin typeface="Pretendard"/>
                <a:ea typeface="Pretendard"/>
              </a:rPr>
              <a:t>순현금 35조원 확보로 투자 여력과 안정성 강화.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AI 메모리 리더십을
이어갑니다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SK hynix · 2026년 1분기 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출처: SK하이닉스 IR(news.skhynix.co.kr) 외 · 수치는 공개 보도 기반 · 비공식 브랜드 테마 데모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